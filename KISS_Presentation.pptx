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7" r:id="rId3"/>
    <p:sldId id="257" r:id="rId4"/>
    <p:sldId id="258" r:id="rId5"/>
    <p:sldId id="259" r:id="rId6"/>
    <p:sldId id="263" r:id="rId7"/>
    <p:sldId id="260" r:id="rId8"/>
    <p:sldId id="261" r:id="rId9"/>
    <p:sldId id="262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5" r:id="rId25"/>
    <p:sldId id="286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KISS Agent Framework</a:t>
            </a:r>
          </a:p>
          <a:p>
            <a:pPr algn="ctr">
              <a:defRPr sz="2800">
                <a:solidFill>
                  <a:srgbClr val="4A90D9"/>
                </a:solidFill>
              </a:defRPr>
            </a:pPr>
            <a:r>
              <a:t>Keep It Simple, Stupid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AAAAAA"/>
                </a:solidFill>
              </a:defRPr>
            </a:pPr>
            <a:r>
              <a:t>"Everything should be made as simple as possible, but not simpler." — Albert Einstein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Koushik Sen • ksen@berkeley.edu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941EDD-3DB1-E0A8-3830-60512D58A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817" y="0"/>
            <a:ext cx="3154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84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Problem with AI Agent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• Frameworks loaded with abstractions on top of abstractions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Configuration files that rival tax forms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Dependency trees that make node_modules look tidy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Complex learning curves that burn enthusiasm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endParaRPr/>
          </a:p>
          <a:p>
            <a:pPr>
              <a:defRPr sz="2400">
                <a:solidFill>
                  <a:srgbClr val="333333"/>
                </a:solidFill>
              </a:defRPr>
            </a:pPr>
            <a:r>
              <a:t>What if there was another way?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Enter KISS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A lightweight agent framework implementing a </a:t>
            </a:r>
            <a:r>
              <a:rPr dirty="0" err="1"/>
              <a:t>ReAct</a:t>
            </a:r>
            <a:r>
              <a:rPr dirty="0"/>
              <a:t> loop for LLM agents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endParaRPr dirty="0"/>
          </a:p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Core Philosophy: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dirty="0"/>
              <a:t>Simple Architecture: Clean, minimal core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dirty="0"/>
              <a:t>Model Agnostic: Multiple LLM providers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dirty="0"/>
              <a:t>Native Function Calling: Seamless tool integration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dirty="0"/>
              <a:t>Just Python: No special DSLs or config files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lang="en-US" dirty="0"/>
              <a:t>Evolutionary algorithms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333333"/>
                </a:solidFill>
              </a:defRPr>
            </a:pPr>
            <a:r>
              <a:rPr lang="en-US" dirty="0"/>
              <a:t>Create and optimize agents for long-running tasks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Your First Agent in 30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from </a:t>
            </a:r>
            <a:r>
              <a:rPr dirty="0" err="1"/>
              <a:t>kiss.core.kiss_agent</a:t>
            </a:r>
            <a:r>
              <a:rPr dirty="0"/>
              <a:t> import </a:t>
            </a:r>
            <a:r>
              <a:rPr dirty="0" err="1"/>
              <a:t>KISSAgent</a:t>
            </a:r>
            <a:endParaRPr dirty="0"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 dirty="0"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def calculate(expression: str) -&gt; str: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    """Evaluate a math expression."""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    return str(eval(expression))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 dirty="0"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agent = </a:t>
            </a:r>
            <a:r>
              <a:rPr dirty="0" err="1"/>
              <a:t>KISSAgent</a:t>
            </a:r>
            <a:r>
              <a:rPr dirty="0"/>
              <a:t>(name="Math Buddy")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result = </a:t>
            </a:r>
            <a:r>
              <a:rPr dirty="0" err="1"/>
              <a:t>agent.run</a:t>
            </a:r>
            <a:r>
              <a:rPr dirty="0"/>
              <a:t>(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model_name</a:t>
            </a:r>
            <a:r>
              <a:rPr dirty="0"/>
              <a:t>="gemini-2.5-flash",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prompt_template</a:t>
            </a:r>
            <a:r>
              <a:rPr dirty="0"/>
              <a:t>="Calculate: {question}",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    arguments={"question": "What is 15% of 847?"},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    tools=[calculate]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)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print(result)  # 127.05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ReAct Loop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┌─────────────┐     ┌─────────────┐     ┌─────────────┐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│   Prompt    │ ──► │    LLM      │ ──► │   Action    │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│   (User)    │     │  (Reason)   │     │   (Tool)    │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└─────────────┘     └─────────────┘     └──────┬──────┘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       ▲                                       │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       │            ┌─────────────┐            │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       └────────────│ Observation │◄───────────┘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                    │  (Result)   │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                    └─────────────┘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  Reason → Act → Observe → Repeat until finish()</a:t>
            </a:r>
          </a:p>
        </p:txBody>
      </p:sp>
    </p:spTree>
    <p:extLst>
      <p:ext uri="{BB962C8B-B14F-4D97-AF65-F5344CB8AC3E}">
        <p14:creationId xmlns:p14="http://schemas.microsoft.com/office/powerpoint/2010/main" val="1922832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Makes This Special?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No Annotations. No Boilerplate. No Ceremony.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endParaRPr/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Native function calling from LLM providers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Python functions become tools automatically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Type hints become schemas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Docstrings become descriptions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Everything just works!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Framework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Core Features: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Simple Architecture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Multi-Agent Systems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Native Function Calling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Docker Integration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Trajectory Tracking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Budget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095" y="1371600"/>
            <a:ext cx="53035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rPr dirty="0"/>
              <a:t>Advanced Features: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rPr dirty="0"/>
              <a:t>• Agent Evolution (Pareto)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rPr dirty="0"/>
              <a:t>• GEPA Prompt Optimization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KISSEvolve</a:t>
            </a:r>
            <a:r>
              <a:rPr dirty="0"/>
              <a:t> Algorithm Discovery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lang="en-US" dirty="0"/>
              <a:t>Basic in-memory </a:t>
            </a:r>
            <a:r>
              <a:rPr dirty="0"/>
              <a:t>RAG Support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rPr dirty="0"/>
              <a:t>• Multiprocessing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rPr dirty="0"/>
              <a:t>• Web Visualization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Supported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OpenAI: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  gpt-4.1, gpt-4o, gpt-5, gpt-5.2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defRPr sz="2000">
                <a:solidFill>
                  <a:srgbClr val="333333"/>
                </a:solidFill>
              </a:defRPr>
            </a:pPr>
            <a:r>
              <a:t>Anthropic: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  claude-opus-4-5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  claude-sonnet-4-5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  claude-haiku-4-5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defRPr sz="2000">
                <a:solidFill>
                  <a:srgbClr val="333333"/>
                </a:solidFill>
              </a:defRPr>
            </a:pPr>
            <a:r>
              <a:t>Google Gemini: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  gemini-2.5-pro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  gemini-2.5-flash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  gemini-3-pro-preview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095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Together AI: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  Llama-4-Scout/Maverick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  Qwen3 series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  DeepSeek-V3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defRPr sz="2000">
                <a:solidFill>
                  <a:srgbClr val="333333"/>
                </a:solidFill>
              </a:defRPr>
            </a:pPr>
            <a:r>
              <a:t>OpenRouter: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  400+ models via unified API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defRPr sz="2000">
                <a:solidFill>
                  <a:srgbClr val="333333"/>
                </a:solidFill>
              </a:defRPr>
            </a:pPr>
            <a:r>
              <a:t>Embedding Models: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  text-embedding-3-small/large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  text-embedding-004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56707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Multi-Agent Orchestration</a:t>
            </a:r>
            <a:r>
              <a:rPr lang="en-US" dirty="0"/>
              <a:t>: Python and Agents as Functions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# Agent 1: Research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research = research_agent.run(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model_name="gpt-4o",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prompt_template="Research: {topic}",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arguments={"topic": "PostgreSQL indexing"},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)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# Agent 2: Write (uses research result)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draft = writer_agent.run(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model_name="claude-sonnet-4-5",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prompt_template="Write article:\n{research}",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arguments={"research": research},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Functions Are Powerful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No Complex Orchestration Needed: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endParaRPr/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No message buses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No complex state machines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No special frameworks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Just Python functions calling Python functions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endParaRPr/>
          </a:p>
          <a:p>
            <a:pPr>
              <a:defRPr sz="2400">
                <a:solidFill>
                  <a:srgbClr val="333333"/>
                </a:solidFill>
              </a:defRPr>
            </a:pPr>
            <a:r>
              <a:t>Each agent can: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Use a different model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Have its own budget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Save its own trajectory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KISSCodingAgent - Multi-Agent Coding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from </a:t>
            </a:r>
            <a:r>
              <a:rPr dirty="0" err="1"/>
              <a:t>kiss.agents.coding_agents</a:t>
            </a:r>
            <a:r>
              <a:rPr dirty="0"/>
              <a:t> import </a:t>
            </a:r>
            <a:r>
              <a:rPr dirty="0" err="1"/>
              <a:t>KISSCodingAgent</a:t>
            </a:r>
            <a:endParaRPr dirty="0"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 dirty="0"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agent = </a:t>
            </a:r>
            <a:r>
              <a:rPr dirty="0" err="1"/>
              <a:t>KISSCodingAgent</a:t>
            </a:r>
            <a:r>
              <a:rPr dirty="0"/>
              <a:t>(name="My Coding Agent")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 dirty="0"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result = </a:t>
            </a:r>
            <a:r>
              <a:rPr dirty="0" err="1"/>
              <a:t>agent.run</a:t>
            </a:r>
            <a:r>
              <a:rPr dirty="0"/>
              <a:t>(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prompt_template</a:t>
            </a:r>
            <a:r>
              <a:rPr dirty="0"/>
              <a:t>="Write a </a:t>
            </a:r>
            <a:r>
              <a:rPr dirty="0" err="1"/>
              <a:t>fibonacci</a:t>
            </a:r>
            <a:r>
              <a:rPr dirty="0"/>
              <a:t> function",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orchestrator_model_name</a:t>
            </a:r>
            <a:r>
              <a:rPr dirty="0"/>
              <a:t>="claude-sonnet-4-5",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readable_paths</a:t>
            </a:r>
            <a:r>
              <a:rPr dirty="0"/>
              <a:t>=["</a:t>
            </a:r>
            <a:r>
              <a:rPr dirty="0" err="1"/>
              <a:t>src</a:t>
            </a:r>
            <a:r>
              <a:rPr dirty="0"/>
              <a:t>/"],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writable_paths</a:t>
            </a:r>
            <a:r>
              <a:rPr dirty="0"/>
              <a:t>=["output/"],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max_steps</a:t>
            </a:r>
            <a:r>
              <a:rPr dirty="0"/>
              <a:t>=50,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    trials=3  # Auto-retry with </a:t>
            </a:r>
            <a:r>
              <a:rPr lang="en-US" dirty="0"/>
              <a:t>dynamic </a:t>
            </a:r>
            <a:r>
              <a:rPr dirty="0"/>
              <a:t>GEPA refinement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KISSCodingAgent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┌───────────────────────────────────────┐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│           Orchestrator Agent          │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│    (Task planning &amp; delegation)       │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└───────────────┬───────────────────────┘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           │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   ┌───────┴───────┐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   ▼               ▼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┌──────────────┐ ┌──────────────┐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│  Executor 1  │ │  Executor 2  │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│  (Sub-task)  │ │  (Sub-task)  │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└──────────────┘ └──────────────┘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Tools: Bash, Edit, MultiEdit, perform_subtask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Dynamic GEPA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Self-Improving Prompts: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endParaRPr dirty="0"/>
          </a:p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When a task fails:</a:t>
            </a:r>
          </a:p>
          <a:p>
            <a:pPr lvl="1">
              <a:defRPr sz="2400">
                <a:solidFill>
                  <a:srgbClr val="333333"/>
                </a:solidFill>
              </a:defRPr>
            </a:pPr>
            <a:r>
              <a:rPr dirty="0"/>
              <a:t>  1. Analyze the execution trajectory</a:t>
            </a:r>
          </a:p>
          <a:p>
            <a:pPr lvl="1">
              <a:defRPr sz="2400">
                <a:solidFill>
                  <a:srgbClr val="333333"/>
                </a:solidFill>
              </a:defRPr>
            </a:pPr>
            <a:r>
              <a:rPr dirty="0"/>
              <a:t>  2. Refine the prompt </a:t>
            </a:r>
          </a:p>
          <a:p>
            <a:pPr lvl="1">
              <a:defRPr sz="2400">
                <a:solidFill>
                  <a:srgbClr val="333333"/>
                </a:solidFill>
              </a:defRPr>
            </a:pPr>
            <a:r>
              <a:rPr dirty="0"/>
              <a:t>  3. Retry with improved instructions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endParaRPr dirty="0"/>
          </a:p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from </a:t>
            </a:r>
            <a:r>
              <a:rPr dirty="0" err="1"/>
              <a:t>kiss.agents.kiss</a:t>
            </a:r>
            <a:r>
              <a:rPr dirty="0"/>
              <a:t> import </a:t>
            </a:r>
            <a:r>
              <a:rPr dirty="0" err="1"/>
              <a:t>dynamic_gepa_agent</a:t>
            </a:r>
            <a:endParaRPr dirty="0"/>
          </a:p>
          <a:p>
            <a:pPr>
              <a:defRPr sz="2400">
                <a:solidFill>
                  <a:srgbClr val="333333"/>
                </a:solidFill>
              </a:defRPr>
            </a:pPr>
            <a:endParaRPr dirty="0"/>
          </a:p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refined = </a:t>
            </a:r>
            <a:r>
              <a:rPr dirty="0" err="1"/>
              <a:t>dynamic_gepa_agent</a:t>
            </a:r>
            <a:r>
              <a:rPr dirty="0"/>
              <a:t>(</a:t>
            </a:r>
          </a:p>
          <a:p>
            <a:pPr lvl="1">
              <a:defRPr sz="2400">
                <a:solidFill>
                  <a:srgbClr val="333333"/>
                </a:solidFill>
              </a:defRPr>
            </a:pPr>
            <a:r>
              <a:rPr dirty="0"/>
              <a:t>    </a:t>
            </a:r>
            <a:r>
              <a:rPr dirty="0" err="1"/>
              <a:t>original_prompt_template</a:t>
            </a:r>
            <a:r>
              <a:rPr dirty="0"/>
              <a:t>=original,</a:t>
            </a:r>
          </a:p>
          <a:p>
            <a:pPr lvl="1">
              <a:defRPr sz="2400">
                <a:solidFill>
                  <a:srgbClr val="333333"/>
                </a:solidFill>
              </a:defRPr>
            </a:pPr>
            <a:r>
              <a:rPr dirty="0"/>
              <a:t>    </a:t>
            </a:r>
            <a:r>
              <a:rPr dirty="0" err="1"/>
              <a:t>previous_prompt_template</a:t>
            </a:r>
            <a:r>
              <a:rPr dirty="0"/>
              <a:t>=previous,</a:t>
            </a:r>
          </a:p>
          <a:p>
            <a:pPr lvl="1">
              <a:defRPr sz="2400">
                <a:solidFill>
                  <a:srgbClr val="333333"/>
                </a:solidFill>
              </a:defRPr>
            </a:pPr>
            <a:r>
              <a:rPr dirty="0"/>
              <a:t>    </a:t>
            </a:r>
            <a:r>
              <a:rPr dirty="0" err="1"/>
              <a:t>agent_trajectory_summary</a:t>
            </a:r>
            <a:r>
              <a:rPr dirty="0"/>
              <a:t>=</a:t>
            </a:r>
            <a:r>
              <a:rPr dirty="0" err="1"/>
              <a:t>agent.get_trajectory</a:t>
            </a:r>
            <a:r>
              <a:rPr dirty="0"/>
              <a:t>(),</a:t>
            </a:r>
          </a:p>
          <a:p>
            <a:pPr lvl="1">
              <a:defRPr sz="2400">
                <a:solidFill>
                  <a:srgbClr val="333333"/>
                </a:solidFill>
              </a:defRPr>
            </a:pPr>
            <a:r>
              <a:rPr dirty="0"/>
              <a:t>    </a:t>
            </a:r>
            <a:r>
              <a:rPr dirty="0" err="1"/>
              <a:t>model_name</a:t>
            </a:r>
            <a:r>
              <a:rPr dirty="0"/>
              <a:t>="gemini-2.5-flash"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Docker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from kiss.docker import DockerManager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with DockerManager("ubuntu:latest") as env: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output = env.run_bash_command(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"pip install numpy &amp;&amp; python script.py",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"Install and run"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)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# Or with KISSCodingAgent: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result = agent.run(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prompt_template="Install numpy and test",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docker_image="python:3.11-slim"  # Runs in Docker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GEPA - Genetic-Pareto Prompt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Based on: "GEPA: Reflective Prompt Evolution</a:t>
            </a:r>
            <a:r>
              <a:rPr lang="en-US" dirty="0"/>
              <a:t> </a:t>
            </a:r>
            <a:r>
              <a:rPr dirty="0"/>
              <a:t>Can Outperform Reinforcement Learning"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endParaRPr dirty="0"/>
          </a:p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Key Concepts: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• Dev/Val Split - Prevents overfitting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• Pareto Frontier - Tracks best per instance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• Mutation Gating - Only accept improvements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• Trajectory Reflection - Uses tool calls &amp; reasoning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• Structural Merge - Combine complementary prompts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GEPA Quick 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from kiss.agents.gepa import GEPA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gepa = GEPA(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agent_wrapper=agent_wrapper,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initial_prompt_template="Task: {task}",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evaluation_fn=evaluate,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max_generations=5,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population_size=4,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)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best = gepa.optimize(train_examples)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print(f'Best: {best.prompt_template}')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KISSEvolve - Algorithm Discovery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from kiss.agents.kiss_evolve import KISSEvolve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optimizer = KISSEvolve(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code_agent_wrapper=code_agent_wrapper,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initial_code=bubble_sort_code,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evaluation_fn=evaluate_code,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model_names=[("gemini-2.5-flash", 1.0)],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population_size=8,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max_generations=10,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)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best = optimizer.evolve()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KISSEvolve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Core Features: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LLM-Guided mutation/crossover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Elite preservation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Multi-model support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Rich evaluation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095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Advanced Features: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Island-based evolution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Novelty rejection sampling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Power-law sampling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Performance-novelty balance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Agent Evolver - Create &amp; Optimize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from kiss.agents.create_and_optimize_agent import AgentEvolver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evolver = AgentEvolver(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task_description="Build a code analyzer",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max_generations=10,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max_frontier_size=6,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mutation_probability=0.8,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)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best_variant = evolver.evolve()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print(f'Best: {best_variant.folder_path}')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Agent Evolver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Task Description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  │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  ▼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Initial Agent Creation (Coding Agents + Web Search)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  │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  ▼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┌─────────────────────────────────────────┐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│          Evolution Loop                 │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│  Mutation (80%)  |  Crossover (20%)     │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│  Evaluation  |  Pareto Frontier Update  │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└───────────────────┬─────────────────────┘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  │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       ▼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Optimal Agent Output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SimpleRAG - Document Retrieval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from kiss.rag import SimpleRAG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rag = SimpleRAG(model_name="gpt-4o")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rag.add_documents([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{"id": "1", "text": "Python is...", "metadata": {...}},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{"id": "2", "text": "ML uses...", "metadata": {...}},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])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results = rag.query("What is Python?", top_k=2)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for r in results:</a:t>
            </a:r>
          </a:p>
          <a:p>
            <a:pPr>
              <a:defRPr sz="1600">
                <a:solidFill>
                  <a:srgbClr val="98C379"/>
                </a:solidFill>
                <a:latin typeface="Consolas"/>
              </a:defRPr>
            </a:pPr>
            <a:r>
              <a:t>    print(f'{r["text"]}: {r["score"]}')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Trajectory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Web-Based Execution Viewer: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endParaRPr/>
          </a:p>
          <a:p>
            <a:pPr>
              <a:defRPr sz="2400">
                <a:solidFill>
                  <a:srgbClr val="333333"/>
                </a:solidFill>
              </a:defRPr>
            </a:pPr>
            <a:r>
              <a:t>uv run python -m kiss.viz_trajectory.server artifacts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endParaRPr/>
          </a:p>
          <a:p>
            <a:pPr>
              <a:defRPr sz="2400">
                <a:solidFill>
                  <a:srgbClr val="333333"/>
                </a:solidFill>
              </a:defRPr>
            </a:pPr>
            <a:r>
              <a:t>Features: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Modern UI with dark theme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Markdown rendering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Syntax highlighting for code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Metadata display (tokens, budget, steps)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• Sidebar navigation for all trajectories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Summary - KISS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1. Simplicity over complexity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endParaRPr dirty="0"/>
          </a:p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2. Python functions as the orchestration layer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endParaRPr dirty="0"/>
          </a:p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3. Native function calling - no annotations needed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endParaRPr dirty="0"/>
          </a:p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4. Multi-agent systems that compose naturally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endParaRPr dirty="0"/>
          </a:p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5. Self-improvement </a:t>
            </a:r>
            <a:r>
              <a:rPr lang="en-US" dirty="0"/>
              <a:t>and agent optimization </a:t>
            </a:r>
            <a:r>
              <a:rPr dirty="0"/>
              <a:t>through GEPA and evolution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endParaRPr dirty="0"/>
          </a:p>
          <a:p>
            <a:pPr>
              <a:defRPr sz="2400">
                <a:solidFill>
                  <a:srgbClr val="333333"/>
                </a:solidFill>
              </a:defRPr>
            </a:pPr>
            <a:r>
              <a:rPr dirty="0"/>
              <a:t>Get Started: </a:t>
            </a:r>
            <a:r>
              <a:rPr dirty="0" err="1"/>
              <a:t>github.com</a:t>
            </a:r>
            <a:r>
              <a:rPr dirty="0"/>
              <a:t>/</a:t>
            </a:r>
            <a:r>
              <a:rPr dirty="0" err="1"/>
              <a:t>ksenxx</a:t>
            </a:r>
            <a:r>
              <a:rPr dirty="0"/>
              <a:t>/</a:t>
            </a:r>
            <a:r>
              <a:rPr dirty="0" err="1"/>
              <a:t>kiss_ai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800">
                <a:solidFill>
                  <a:srgbClr val="4A90D9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A90D9"/>
                </a:solidFill>
              </a:defRPr>
            </a:pPr>
            <a:r>
              <a:t>KISS Agent Framework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github.com/ksenxx/kiss_ai</a:t>
            </a:r>
          </a:p>
          <a:p>
            <a:pPr algn="ctr">
              <a:defRPr sz="1800">
                <a:solidFill>
                  <a:srgbClr val="AAAAAA"/>
                </a:solidFill>
              </a:defRPr>
            </a:pPr>
            <a:r>
              <a:t>ksen@berkeley.edu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1536</Words>
  <Application>Microsoft Macintosh PowerPoint</Application>
  <PresentationFormat>Widescreen</PresentationFormat>
  <Paragraphs>292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Koushik Sen</cp:lastModifiedBy>
  <cp:revision>7</cp:revision>
  <dcterms:created xsi:type="dcterms:W3CDTF">2013-01-27T09:14:16Z</dcterms:created>
  <dcterms:modified xsi:type="dcterms:W3CDTF">2026-02-02T00:05:47Z</dcterms:modified>
  <cp:category/>
</cp:coreProperties>
</file>